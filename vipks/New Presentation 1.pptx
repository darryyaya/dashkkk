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tableStyles" Target="tableStyle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5001B-1163-460C-B75D-D8011A7BDCA5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77465-9695-47E1-A333-33FA86AC13D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1D0BC61-ED89-4E72-8EFA-5966590BF0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7A18B99-96AA-40BD-8A24-5A6DDE2EA2A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D41D3FC-FEA6-4394-8350-D12299045C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8987ECD-ED57-4F50-BD44-F7BA5E78F6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2D47954-4ABF-48B7-A0E4-0DC75D36763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FF06D1C-31B3-4D9C-A612-2664665F3EF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D348D58-42DC-43DC-BDB5-1CD2008061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A1326F4-EF62-46E5-97CF-1FBDC79D387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B8CB33C-4A87-409A-A09D-27E43C22658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4A04B5F-6D11-4484-AB96-343577FFF2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766F5461-034A-4017-8F44-7D8CD391C56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ru-RU" altLang="en-US"/>
              <a:t>Щелкните для изменения стиля основного подзаголовка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ние и контен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контен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4" name="Заполнитель контента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5" name="Заполнитель текста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6" name="Заполнитель контента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7" name="Заполнитель даты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Заполнитель нижнего колонтитула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9" name="Заполнитель номера слайда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назв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Заполнитель нижнего колонтитула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5" name="Заполнитель номера слайда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даты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Заполнитель нижнего колонтитула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Контен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Изображение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изображения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altLang="en-US"/>
              <a:t>Щелкните значок, чтобы добавить рисунок</a:t>
            </a:r>
          </a:p>
        </p:txBody>
      </p:sp>
      <p:sp>
        <p:nvSpPr>
          <p:cNvPr id="4" name="Заполнитель текста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altLang="en-US"/>
              <a:t>Щелкните для изменения стиля основного текста</a:t>
            </a:r>
          </a:p>
        </p:txBody>
      </p:sp>
      <p:sp>
        <p:nvSpPr>
          <p:cNvPr id="5" name="Заполнитель даты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Название и текст по вертикал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Название по вертикали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по вертикали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названия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altLang="en-US"/>
              <a:t>Щелкните для изменения стиля основного заголовка</a:t>
            </a:r>
          </a:p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</a:p>
          <a:p>
            <a:pPr lvl="1"/>
            <a:r>
              <a:rPr lang="ru-RU" altLang="en-US"/>
              <a:t>Второй уровень</a:t>
            </a:r>
          </a:p>
          <a:p>
            <a:pPr lvl="2"/>
            <a:r>
              <a:rPr lang="ru-RU" altLang="en-US"/>
              <a:t>Третий уровень</a:t>
            </a:r>
          </a:p>
          <a:p>
            <a:pPr lvl="3"/>
            <a:r>
              <a:rPr lang="ru-RU" altLang="en-US"/>
              <a:t>Четвертый уровень</a:t>
            </a:r>
          </a:p>
          <a:p>
            <a:pPr lvl="4"/>
            <a:r>
              <a:rPr lang="ru-RU" altLang="en-US"/>
              <a:t>Пятый уровень</a:t>
            </a:r>
          </a:p>
        </p:txBody>
      </p:sp>
      <p:sp>
        <p:nvSpPr>
          <p:cNvPr id="4" name="Заполнитель даты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Заполнитель нижнего колонтитула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altLang="en-US"/>
          </a:p>
        </p:txBody>
      </p:sp>
      <p:sp>
        <p:nvSpPr>
          <p:cNvPr id="6" name="Заполнитель номера слайда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ctrTitle"/>
          </p:nvPr>
        </p:nvSpPr>
        <p:spPr/>
        <p:txBody>
          <a:bodyPr/>
          <a:lstStyle/>
          <a:p>
            <a:r>
              <a:rPr lang="ru-RU" altLang="en-US" b="1"/>
              <a:t>ГОСТ Р ИСО/МЭК 12207-2010</a:t>
            </a:r>
          </a:p>
        </p:txBody>
      </p:sp>
      <p:sp>
        <p:nvSpPr>
          <p:cNvPr id="3" name="Подзаголовок 2"/>
          <p:cNvSpPr>
            <a:spLocks noGrp="1" noEditPoints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altLang="en-US"/>
              <a:t>Процессы жизненного цикла программного обеспечения</a:t>
            </a:r>
          </a:p>
          <a:p>
            <a:r>
              <a:rPr lang="ru-RU" altLang="en-US"/>
              <a:t>— Основы стандарта и его значение в современной инженерии ПО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Почему нужны стандарты в разработке ПО?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1825625"/>
            <a:ext cx="10515600" cy="4625718"/>
          </a:xfrm>
        </p:spPr>
        <p:txBody>
          <a:bodyPr/>
          <a:lstStyle/>
          <a:p>
            <a:r>
              <a:t>Без стандартов — хаос, как при строительстве моста без норм</a:t>
            </a:r>
          </a:p>
          <a:p>
            <a:r>
              <a:t>Ошибки в ПО могут стоить:</a:t>
            </a:r>
          </a:p>
          <a:p>
            <a:pPr marL="0" indent="0">
              <a:buNone/>
            </a:pPr>
            <a:r>
              <a:rPr lang="ru-RU"/>
              <a:t>      - </a:t>
            </a:r>
            <a:r>
              <a:t>миллионов рублей</a:t>
            </a:r>
          </a:p>
          <a:p>
            <a:pPr marL="0" indent="0">
              <a:buNone/>
            </a:pPr>
            <a:r>
              <a:rPr lang="ru-RU"/>
              <a:t>      - </a:t>
            </a:r>
            <a:r>
              <a:t>репутации компании</a:t>
            </a:r>
          </a:p>
          <a:p>
            <a:pPr marL="0" indent="0">
              <a:buNone/>
            </a:pPr>
            <a:r>
              <a:rPr lang="ru-RU"/>
              <a:t>      - </a:t>
            </a:r>
            <a:r>
              <a:t>человеческих жизней (в авиации, медицине, АСУ)</a:t>
            </a:r>
          </a:p>
          <a:p>
            <a:r>
              <a:t>Стандарты помогают:</a:t>
            </a:r>
          </a:p>
          <a:p>
            <a:pPr marL="0" indent="0">
              <a:buNone/>
            </a:pPr>
            <a:r>
              <a:rPr lang="ru-RU"/>
              <a:t>     - </a:t>
            </a:r>
            <a:r>
              <a:t>управлять сложностью</a:t>
            </a:r>
          </a:p>
          <a:p>
            <a:pPr marL="0" indent="0">
              <a:buNone/>
            </a:pPr>
            <a:r>
              <a:rPr lang="ru-RU"/>
              <a:t>     - </a:t>
            </a:r>
            <a:r>
              <a:t>снижать риски</a:t>
            </a:r>
          </a:p>
          <a:p>
            <a:pPr marL="0" indent="0">
              <a:buNone/>
            </a:pPr>
            <a:r>
              <a:rPr lang="ru-RU"/>
              <a:t>     - </a:t>
            </a:r>
            <a:r>
              <a:t>обеспечивать предсказуемость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История и цель стандарта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1825625"/>
            <a:ext cx="10515600" cy="2514187"/>
          </a:xfrm>
        </p:spPr>
        <p:txBody>
          <a:bodyPr/>
          <a:lstStyle/>
          <a:p>
            <a:r>
              <a:t>Международный стандарт ISO/IEC 12207 принят в 1995 г.</a:t>
            </a:r>
          </a:p>
          <a:p>
            <a:r>
              <a:t>Адаптирован в России как ГОСТ Р ИСО/МЭК 12207-2010</a:t>
            </a:r>
          </a:p>
          <a:p>
            <a:r>
              <a:t>Цель: не диктовать как разрабатывать, а описать процессы жизненного цикла ПО</a:t>
            </a:r>
          </a:p>
          <a:p>
            <a:r>
              <a:t>Подходит для любых методологий: Waterfall, Spiral, Agile и др.</a:t>
            </a:r>
            <a:r>
              <a:rPr lang="ru-RU"/>
              <a:t>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Общая структура стандарта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1825625"/>
            <a:ext cx="5743780" cy="4351338"/>
          </a:xfrm>
        </p:spPr>
        <p:txBody>
          <a:bodyPr/>
          <a:lstStyle/>
          <a:p>
            <a:r>
              <a:rPr sz="1800" b="1"/>
              <a:t>Стандарт делит процессы на три группы:</a:t>
            </a:r>
          </a:p>
          <a:p>
            <a:pPr marL="0" indent="0">
              <a:buNone/>
            </a:pPr>
            <a:r>
              <a:rPr lang="ru-RU" sz="1800"/>
              <a:t>1. </a:t>
            </a:r>
            <a:r>
              <a:rPr sz="1800"/>
              <a:t>Основные процессы</a:t>
            </a:r>
          </a:p>
          <a:p>
            <a:pPr marL="0" indent="0">
              <a:buNone/>
            </a:pPr>
            <a:r>
              <a:rPr sz="1800"/>
              <a:t>— Приобретение, поставка, разработка, эксплуатация, сопровождение</a:t>
            </a:r>
          </a:p>
          <a:p>
            <a:pPr marL="0" indent="0">
              <a:buNone/>
            </a:pPr>
            <a:r>
              <a:rPr lang="ru-RU" sz="1800"/>
              <a:t>2. </a:t>
            </a:r>
            <a:r>
              <a:rPr sz="1800"/>
              <a:t>Вспомогательные процессы</a:t>
            </a:r>
          </a:p>
          <a:p>
            <a:pPr marL="0" indent="0">
              <a:buNone/>
            </a:pPr>
            <a:r>
              <a:rPr sz="1800"/>
              <a:t>— Документирование, управление конфигурацией, верификация, валидация, обеспечение качества</a:t>
            </a:r>
          </a:p>
          <a:p>
            <a:pPr marL="0" indent="0">
              <a:buNone/>
            </a:pPr>
            <a:r>
              <a:rPr lang="ru-RU" sz="1800"/>
              <a:t>3. </a:t>
            </a:r>
            <a:r>
              <a:rPr sz="1800"/>
              <a:t>Организационные процессы</a:t>
            </a:r>
          </a:p>
          <a:p>
            <a:pPr marL="0" indent="0">
              <a:buNone/>
            </a:pPr>
            <a:r>
              <a:rPr sz="1800"/>
              <a:t>— Управление проектами, обучение, улучшение процессов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581979" y="1825625"/>
            <a:ext cx="5048130" cy="345890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endParaRPr b="1"/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15474" y="0"/>
            <a:ext cx="1124455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Вспомогательные процессы — «инструменты качества»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Управление конфигурацией — контроль версий кода, требований, документации</a:t>
            </a:r>
          </a:p>
          <a:p>
            <a:r>
              <a:t>Обеспечение качества — соответствие стандартам и требованиям</a:t>
            </a:r>
          </a:p>
          <a:p>
            <a:r>
              <a:t>Верификация → «Делаем ли мы продукт правильно?»</a:t>
            </a:r>
          </a:p>
          <a:p>
            <a:r>
              <a:t>Валидация → «Делаем ли мы правильный продукт?»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Организационные процессы — основа инфраструктуры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Управление проектами</a:t>
            </a:r>
          </a:p>
          <a:p>
            <a:r>
              <a:t>Управление инфраструктурой</a:t>
            </a:r>
          </a:p>
          <a:p>
            <a:r>
              <a:t>Улучшение процессов</a:t>
            </a:r>
          </a:p>
          <a:p>
            <a:r>
              <a:t>Обучение персонала</a:t>
            </a: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959100" y="4146033"/>
            <a:ext cx="7180446" cy="20309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Как стандарт помогает на этапе внедрения?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Эксплуатация: плавный запуск, мониторинг, реакция на сбои</a:t>
            </a:r>
          </a:p>
          <a:p>
            <a:r>
              <a:t>Сопровождение: исправление багов, адаптация к новым условиям</a:t>
            </a:r>
          </a:p>
          <a:p>
            <a:r>
              <a:t>Управление конфигурацией: возможность отката, воспроизводимость</a:t>
            </a:r>
          </a:p>
          <a:p>
            <a:r>
              <a:t>Качество и валидация: уверенность, что система решает реальную задачу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 применения стандарта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>
          <a:xfrm>
            <a:off x="838200" y="2660693"/>
            <a:ext cx="10515600" cy="3516270"/>
          </a:xfrm>
        </p:spPr>
        <p:txBody>
          <a:bodyPr/>
          <a:lstStyle/>
          <a:p>
            <a:r>
              <a:rPr sz="3600"/>
              <a:t>Повышает прозрачность и предсказуемость</a:t>
            </a:r>
          </a:p>
          <a:p>
            <a:r>
              <a:rPr sz="3600"/>
              <a:t>Снижает риски при внедрении</a:t>
            </a:r>
          </a:p>
          <a:p>
            <a:r>
              <a:rPr sz="3600"/>
              <a:t>Улучшает коммуникацию между командами</a:t>
            </a:r>
          </a:p>
          <a:p>
            <a:r>
              <a:rPr sz="3600"/>
              <a:t>Обеспечивает долгосрочную поддержку ПО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Вызовы и критика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 Может казаться бюрократичным</a:t>
            </a:r>
          </a:p>
          <a:p>
            <a:r>
              <a:t> Требует детального документирования</a:t>
            </a:r>
          </a:p>
          <a:p>
            <a:r>
              <a:t> Не всегда легко совместим с Agile / DevOps / CI/CD</a:t>
            </a:r>
            <a:endParaRPr lang="ru-RU"/>
          </a:p>
          <a:p>
            <a:endParaRPr lang="ru-RU"/>
          </a:p>
          <a:p>
            <a:r>
              <a:rPr lang="ru-RU"/>
              <a:t>Решение: использовать стандарт как набор инструментов, а не догму — применять только нужные процессы.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b="1"/>
              <a:t>Заключение</a:t>
            </a:r>
          </a:p>
        </p:txBody>
      </p:sp>
      <p:sp>
        <p:nvSpPr>
          <p:cNvPr id="3" name="Заполнитель контента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r>
              <a:t>ГОСТ Р ИСО/МЭК 12207-2010 — это каркас профессиональной инженерии ПО</a:t>
            </a:r>
          </a:p>
          <a:p>
            <a:r>
              <a:t>Его принципы актуальны даже в эпоху Agile и DevOps</a:t>
            </a:r>
          </a:p>
          <a:p>
            <a:r>
              <a:t>Главное — понимание полноты жизненного цикла, а не формальное соблюдение</a:t>
            </a:r>
          </a:p>
          <a:p>
            <a:r>
              <a:t>Надёжное, безопасное и поддерживаемое ПО — основа цифрового мира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По умолчанию">
  <a:themeElements>
    <a:clrScheme name="Офис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исная">
      <a:majorFont>
        <a:latin typeface="Calibri Light" panose="020F0302020204030204"/>
        <a:ea typeface=""/>
        <a:cs typeface=""/>
        <a:font script="Arab" typeface="Times New Roman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Times New Roman"/>
        <a:font script="Knda" typeface="Tunga"/>
        <a:font script="Khmr" typeface="MoolBoran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Angsan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 Light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 Light"/>
        <a:font script="Olck" typeface="Nirmala UI"/>
        <a:font script="Lisu" typeface="Segoe UI"/>
        <a:font script="Sora" typeface="Nirmala UI"/>
      </a:majorFont>
      <a:minorFont>
        <a:latin typeface="Calibri" panose="020F0502020204030204"/>
        <a:ea typeface=""/>
        <a:cs typeface=""/>
        <a:font script="Arab" typeface="Arial"/>
        <a:font script="Armn" typeface="Arial"/>
        <a:font script="Beng" typeface="Vrinda"/>
        <a:font script="Bopo" typeface="Microsoft JhengHei"/>
        <a:font script="Cher" typeface="Plantagenet Cherokee"/>
        <a:font script="Deva" typeface="Mangal"/>
        <a:font script="Ethi" typeface="Nyala"/>
        <a:font script="Geor" typeface="Sylfaen"/>
        <a:font script="Gujr" typeface="Shruti"/>
        <a:font script="Guru" typeface="Raavi"/>
        <a:font script="Hang" typeface="맑은 고딕"/>
        <a:font script="Hebr" typeface="Arial"/>
        <a:font script="Knda" typeface="Tunga"/>
        <a:font script="Khmr" typeface="DaunPenh"/>
        <a:font script="Laoo" typeface="DokChampa"/>
        <a:font script="Mlym" typeface="Kartika"/>
        <a:font script="Mong" typeface="Mongolian Baiti"/>
        <a:font script="Mymr" typeface="Myanmar Text"/>
        <a:font script="Orya" typeface="Kalinga"/>
        <a:font script="Sinh" typeface="Iskoola Pota"/>
        <a:font script="Syrc" typeface="Estrangelo Edessa"/>
        <a:font script="Taml" typeface="Latha"/>
        <a:font script="Telu" typeface="Gautami"/>
        <a:font script="Thaa" typeface="MV Boli"/>
        <a:font script="Thai" typeface="Cordia New"/>
        <a:font script="Tibt" typeface="Microsoft Himalaya"/>
        <a:font script="Cans" typeface="Euphemia"/>
        <a:font script="Yiii" typeface="Microsoft Yi Baiti"/>
        <a:font script="Osma" typeface="Ebrima"/>
        <a:font script="Tale" typeface="Microsoft Tai Le"/>
        <a:font script="Bugi" typeface="Leelawadee UI"/>
        <a:font script="Talu" typeface="Microsoft New Tai Lue"/>
        <a:font script="Tfng" typeface="Ebrima"/>
        <a:font script="Hans" typeface="等线"/>
        <a:font script="Hant" typeface="新細明體"/>
        <a:font script="Java" typeface="Javanese Text"/>
        <a:font script="Nkoo" typeface="Ebrima"/>
        <a:font script="Phag" typeface="Phagspa"/>
        <a:font script="Syre" typeface="Estrangelo Edessa"/>
        <a:font script="Syrj" typeface="Estrangelo Edessa"/>
        <a:font script="Syrn" typeface="Estrangelo Edessa"/>
        <a:font script="Jpan" typeface="游ゴシック"/>
        <a:font script="Olck" typeface="Nirmala UI"/>
        <a:font script="Lisu" typeface="Segoe UI"/>
        <a:font script="Sora" typeface="Nirmala UI"/>
      </a:minorFont>
    </a:fontScheme>
    <a:fmtScheme name="Офис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Дарья</dc:creator>
  <cp:lastModifiedBy>Дарья</cp:lastModifiedBy>
  <cp:revision>1</cp:revision>
  <dcterms:created xsi:type="dcterms:W3CDTF">2026-01-27T20:35:58Z</dcterms:created>
  <dcterms:modified xsi:type="dcterms:W3CDTF">2026-01-27T20:51:04Z</dcterms:modified>
</cp:coreProperties>
</file>